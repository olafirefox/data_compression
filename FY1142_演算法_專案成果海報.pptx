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1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jcIQnru3sPlBleUvdrD+Qjtj/J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30" y="-1133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/>
            </a:lvl1pPr>
            <a:lvl2pPr lvl="1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/>
            </a:lvl2pPr>
            <a:lvl3pPr lvl="2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/>
            </a:lvl3pPr>
            <a:lvl4pPr lvl="3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4pPr>
            <a:lvl5pPr lvl="4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5pPr>
            <a:lvl6pPr lvl="5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6pPr>
            <a:lvl7pPr lvl="6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7pPr>
            <a:lvl8pPr lvl="7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8pPr>
            <a:lvl9pPr lvl="8" algn="ctr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1986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22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596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29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2081421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5326826" y="11394520"/>
            <a:ext cx="12866966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2085368" y="15635264"/>
            <a:ext cx="12807832" cy="2299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5326828" y="10492870"/>
            <a:ext cx="12870909" cy="514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7946" b="1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22" b="1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5960" b="1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5326828" y="15635264"/>
            <a:ext cx="12870909" cy="2299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01383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595"/>
            </a:lvl1pPr>
            <a:lvl2pPr marL="914400" lvl="1" indent="-817308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271"/>
            </a:lvl2pPr>
            <a:lvl3pPr marL="1371600" lvl="2" indent="-733171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7946"/>
            </a:lvl3pPr>
            <a:lvl4pPr marL="1828800" lvl="3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4pPr>
            <a:lvl5pPr marL="2286000" lvl="4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5pPr>
            <a:lvl6pPr marL="2743200" lvl="5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6pPr>
            <a:lvl7pPr marL="3200400" lvl="6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7pPr>
            <a:lvl8pPr marL="3657600" lvl="7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8pPr>
            <a:lvl9pPr marL="4114800" lvl="8" indent="-649097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59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12870909" y="6162959"/>
            <a:ext cx="15326827" cy="3041841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2085364" y="12841129"/>
            <a:ext cx="9764544" cy="2378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297"/>
            </a:lvl1pPr>
            <a:lvl2pPr marL="914400" lvl="1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35"/>
            </a:lvl2pPr>
            <a:lvl3pPr marL="1371600" lvl="2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3973"/>
            </a:lvl3pPr>
            <a:lvl4pPr marL="1828800" lvl="3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4pPr>
            <a:lvl5pPr marL="2286000" lvl="4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5pPr>
            <a:lvl6pPr marL="2743200" lvl="5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6pPr>
            <a:lvl7pPr marL="3200400" lvl="6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7pPr>
            <a:lvl8pPr marL="3657600" lvl="7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8pPr>
            <a:lvl9pPr marL="4114800" lvl="8" indent="-2286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11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558310" y="11917631"/>
            <a:ext cx="27158594" cy="2611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6792642" y="17151963"/>
            <a:ext cx="36274211" cy="6528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6452763" y="10813091"/>
            <a:ext cx="36274211" cy="1920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397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6190695" y="11139203"/>
            <a:ext cx="1144761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系統成功產出以下具體研究成果：
1. 文字壓縮效能：以 9.4MB 英文小說測試，Huffman 壓縮率約為 1.74，LZ77 空間節省率最高可達 60% 以上。透過二進位序列化打包，生成標準 GZIP (.gz) 與自訂 .lz77 壓縮檔，皆能 100% 無損還原。
2. 影像壓縮與效能指標：對 800px 圖片進行 DCT 壓縮，後端向量化運算時間僅需 2ms（比傳統雙重迴圈快 100 倍以上），前端配合 120ms 節流（throttle）實現拖曳滑桿即時預覽。隨 Quality 因子由 100 降至 5，PSNR 從 45dB 降至 24dB，方塊效應逐漸明顯，零係數比例則由 10% 飆升至 92% 以上。
3. 互動體驗：使用者點選影像中細節複雜處（如眼、線條），放大對比畫布會即時顯現邊緣抹平及高頻失真；點選平坦背景處則能驗證 AC 係數全為 0、量化無損失的物理特性。網格分割線的色彩調整為主題藍，大幅提升了在白色背景圖片下的視覺辨識度。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895935" y="9750593"/>
            <a:ext cx="11148678" cy="10156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6108709" y="24423388"/>
            <a:ext cx="11148678" cy="10156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876551" y="5459136"/>
            <a:ext cx="24420771" cy="10156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000" b="1">
                <a:latin typeface="DFKai-SB"/>
              </a:defRPr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079081" y="1820501"/>
            <a:ext cx="2211705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4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演算法視覺化與資料壓縮系統：</a:t>
            </a:r>
            <a:endParaRPr lang="en-US" altLang="zh-TW" sz="54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400" dirty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霍夫曼編碼、LZ77 與 JPEG-DCT 圖片壓縮之設計與實作</a:t>
            </a:r>
            <a:endParaRPr sz="54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895935" y="6538187"/>
            <a:ext cx="24478917" cy="301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zh-TW" altLang="en-US" sz="3200" dirty="0"/>
              <a:t>本研究開發了一套整合文字與圖像之「多維度資料壓縮與演算法視覺化系統」，旨在降低經典壓縮技術的學習門檻並進行即時效能分析。系統涵蓋霍夫曼編碼（</a:t>
            </a:r>
            <a:r>
              <a:rPr lang="en-US" altLang="zh-TW" sz="3200" dirty="0"/>
              <a:t>Huffman</a:t>
            </a:r>
            <a:r>
              <a:rPr lang="zh-TW" altLang="en-US" sz="3200" dirty="0"/>
              <a:t> </a:t>
            </a:r>
            <a:r>
              <a:rPr lang="en-US" altLang="zh-TW" sz="3200" dirty="0"/>
              <a:t>Coding</a:t>
            </a:r>
            <a:r>
              <a:rPr lang="zh-TW" altLang="en-US" sz="3200" dirty="0"/>
              <a:t>）、</a:t>
            </a:r>
            <a:r>
              <a:rPr lang="en-US" altLang="zh-TW" sz="3200" dirty="0"/>
              <a:t>LZ77 </a:t>
            </a:r>
            <a:r>
              <a:rPr lang="zh-TW" altLang="en-US" sz="3200" dirty="0"/>
              <a:t>滑動視窗演算法以及基於二維離散餘弦轉換（</a:t>
            </a:r>
            <a:r>
              <a:rPr lang="en-US" altLang="zh-TW" sz="3200" dirty="0"/>
              <a:t>2D-DCT</a:t>
            </a:r>
            <a:r>
              <a:rPr lang="zh-TW" altLang="en-US" sz="3200" dirty="0"/>
              <a:t>）的 </a:t>
            </a:r>
            <a:r>
              <a:rPr lang="en-US" altLang="zh-TW" sz="3200" dirty="0"/>
              <a:t>JPEG </a:t>
            </a:r>
            <a:r>
              <a:rPr lang="zh-TW" altLang="en-US" sz="3200" dirty="0"/>
              <a:t>圖片有損壓縮。藉由網頁視覺化互動，使用者能動態追蹤霍夫曼樹生成軌跡、</a:t>
            </a:r>
            <a:r>
              <a:rPr lang="en-US" altLang="zh-TW" sz="3200" dirty="0"/>
              <a:t>LZ77 </a:t>
            </a:r>
            <a:r>
              <a:rPr lang="zh-TW" altLang="en-US" sz="3200" dirty="0"/>
              <a:t>搜尋與先行緩衝區的匹配滑動過程，並在 </a:t>
            </a:r>
            <a:r>
              <a:rPr lang="en-US" altLang="zh-TW" sz="3200" dirty="0"/>
              <a:t>20 </a:t>
            </a:r>
            <a:r>
              <a:rPr lang="zh-TW" altLang="en-US" sz="3200" dirty="0"/>
              <a:t>倍的高倍率像素塊放大與同步縮放平移下，實時觀測 </a:t>
            </a:r>
            <a:r>
              <a:rPr lang="en-US" altLang="zh-TW" sz="3200" dirty="0"/>
              <a:t>JPEG </a:t>
            </a:r>
            <a:r>
              <a:rPr lang="zh-TW" altLang="en-US" sz="3200" dirty="0"/>
              <a:t>量化引起的方塊效應。經後端 </a:t>
            </a:r>
            <a:r>
              <a:rPr lang="en-US" altLang="zh-TW" sz="3200" dirty="0"/>
              <a:t>NumPy </a:t>
            </a:r>
            <a:r>
              <a:rPr lang="zh-TW" altLang="en-US" sz="3200" dirty="0"/>
              <a:t>向量化平行運算優化，影像壓縮回傳延遲降至 </a:t>
            </a:r>
            <a:r>
              <a:rPr lang="en-US" altLang="zh-TW" sz="3200" dirty="0"/>
              <a:t>2ms </a:t>
            </a:r>
            <a:r>
              <a:rPr lang="zh-TW" altLang="en-US" sz="3200" dirty="0"/>
              <a:t>以下，實現流暢的即時拖曳預覽，成功建構具學術教學與實務分析價值之視覺化平台。</a:t>
            </a:r>
            <a:endParaRPr lang="zh-TW" alt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基於 Web 互動平台與 NumPy 向量化運算之文字與影像壓縮演算法視覺化及效能評估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3638512" y="5435887"/>
            <a:ext cx="265052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摘要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914985" y="9731543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介紹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876551" y="10991850"/>
            <a:ext cx="1122044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在當今大數據與多媒體時代，資料傳輸與儲存需求呈爆炸式成長。資料壓縮技術（包括無損文字壓縮與有損影像壓縮）是網路通訊與儲存基礎架構的核心。然而，經典壓縮演算法（如 Huffman、LZ77、JPEG-DCT）的數學原理與執行步驟較為抽象，初學者往往難以直觀理解其內部運行機制（如滑動視窗字典查找、二維餘弦基底頻域轉換及量化表失真）。
本研究旨在開發一個高效、互動性強的演算法視覺化展示平台，將這三種經典演算法的底層數學運算（如 2D-DCT 的 8x8 矩陣量化與 Zig-zag 掃描、LZ77 的 Token 序列化二進位封裝）以直觀的動態視覺元素呈現。這不僅能作為卓越的教學工具，還可透過性能指標分析（如壓縮比、空間節省率、PSNR 品質值、零係數比例），讓使用者實時評估演算法在不同品質參數下的實際壓縮成效。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2916039" y="22197723"/>
            <a:ext cx="11148678" cy="10156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974146" y="22197722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研究方法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908462" y="23439233"/>
            <a:ext cx="1144761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本系統採用前後端分離架構，前端使用 HTML/CSS 與 Vanilla JS 建構高效的 Canvas 互動引擎，後端基於 FastAPI、NumPy 與 Pillow 開發高速壓縮運算核心：
1. 霍夫曼編碼視覺化：執行字元頻率分析、構建最小優先權佇列，動態還原霍夫曼樹之點亮路徑，並與原始未壓縮傳輸位元進行即時速度比對。
2. LZ77 演算法視覺化：實作滑動視窗（1024B）與先行區緩衝區（32B），在前端動態展現「搜尋匹配 - 長度 - 偏移量（Offset, Length, Next Char）」的滑動追蹤動畫，並編碼為自訂的二進位 .lz77 格式。
3. JPEG/DCT 圖片有損壓縮：將 RGB 影像轉為 YCbCr 空間，對 Y 亮度通道進行 8x8 分塊，利用 NumPy 矩陣乘法加速 2D-DCT 變換與量化表（依 Quality Factor 1-100 縮放）計算。解壓時進行反量化與 2D-IDCT 重建。
4. 雙圖同步與局部放大：前端實作 originalCanvas 與 reconstructedCanvas 雙層疊加架構，支援高達 20 倍的同步縮放與拖曳平移（Pan &amp; Zoom），並以主題藍網格標示 8x8 分割線，聯動呈現單一像素塊 20x 放大比對及 6 大數學矩陣變化。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6611632" y="24402158"/>
            <a:ext cx="1005063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dirty="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結論 </a:t>
            </a:r>
            <a:endParaRPr sz="6000" dirty="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6071412" y="25615762"/>
            <a:ext cx="1122044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本專案成功整合並視覺化呈現經典的 Huffman、LZ77 與 JPEG/DCT 圖像壓縮演算法。研究結論歸納如下：
1. 本系統將生硬的演算法理論具體化，透過直觀的動態走線（Zig-zag 掃描、霍夫曼路徑點亮、LZ77 視窗滑動）與高倍率雙圖同步縮放，顯著降低了資訊理論的學習門檻。
2. JPEG 壓縮實驗證實，離散餘弦轉換（DCT）能將影像能量集中於低頻，配合量化表捨棄高頻細節，能在維持人眼可接受的視覺品質下，實現極高的壓縮比。
3. 後端 NumPy 向量化運算極大程度地提升了系統實時性，證實了平行矩陣計算在多媒體訊號處理中的關鍵地位。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6061618" y="31064659"/>
            <a:ext cx="11148678" cy="10156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7240302" y="31152385"/>
            <a:ext cx="900258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未來發展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5989848" y="32413759"/>
            <a:ext cx="1122044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擴展色彩通道視覺化：目前 block 分解面板僅呈現 Y（亮度）通道。未來可新增 Cb/Cr（色度）通道的次採樣（4:2:0、4:2:2）交互式對比。
2. 整合更多演算法：引入現代無損壓縮演算法（如 LZW、Deflate、BWT）或現代有損壓縮（如 JPEG 2000 小波轉換），拓寬平台深度。
3. 雲端協作與歷史分析：建立資料庫，記錄並統計不同用戶上傳的多樣化檔案，繪製跨演算法的效能對比曲線圖。</a:t>
            </a:r>
            <a:endParaRPr sz="3000" dirty="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731" y="1677829"/>
            <a:ext cx="3249283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16160215" y="36234894"/>
            <a:ext cx="11148678" cy="10156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6295813" y="36234893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參考資料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6108709" y="37583994"/>
            <a:ext cx="1122044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Huffman, D. A. (1952). A method for the construction of minimum-redundancy codes. Proceedings of the IRE, 40(9), 1098-1101.
[2] Ziv, J., &amp; Lempel, A. (1977). A universal algorithm for sequential data compression. IEEE Transactions on Information Theory, 23(3), 337-343.
[3] Wallace, G. K. (1991). The JPEG still picture compression standard. Communications of the ACM, 34(4), 30-44.
[4] Pennebaker, W. B., &amp; Mitchell, J. L. (1992). JPEG: Still image data compression standard. Springer Science &amp; Business Media.</a:t>
            </a:r>
            <a:endParaRPr sz="3200" i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0958337" y="4161061"/>
            <a:ext cx="8397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作者：智慧運算與大數據專案小組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中原大學電機資訊學院智慧運算與大數據學士班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16198310" y="9731069"/>
            <a:ext cx="11148678" cy="101566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6333908" y="9731068"/>
            <a:ext cx="1110995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研究成果 </a:t>
            </a:r>
            <a:endParaRPr sz="6000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113" name="Google Shape;11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053961" y="1705647"/>
            <a:ext cx="3237899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1488</Words>
  <Application>Microsoft Office PowerPoint</Application>
  <PresentationFormat>自訂</PresentationFormat>
  <Paragraphs>20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DFKai-SB</vt:lpstr>
      <vt:lpstr>Arial</vt:lpstr>
      <vt:lpstr>Calibri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育綸 蔡</cp:lastModifiedBy>
  <cp:revision>1</cp:revision>
  <dcterms:created xsi:type="dcterms:W3CDTF">2022-10-19T14:29:05Z</dcterms:created>
  <dcterms:modified xsi:type="dcterms:W3CDTF">2026-06-08T14:46:19Z</dcterms:modified>
</cp:coreProperties>
</file>